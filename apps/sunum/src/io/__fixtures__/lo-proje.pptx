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5.xml.rels" ContentType="application/vnd.openxmlformats-package.relationships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6" r:id="rId5"/>
    <p:sldMasterId id="2147483659" r:id="rId6"/>
    <p:sldMasterId id="2147483661" r:id="rId7"/>
    <p:sldMasterId id="2147483663" r:id="rId8"/>
    <p:sldMasterId id="2147483664" r:id="rId9"/>
    <p:sldMasterId id="2147483665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tr-TR" sz="1800" spc="-1" strike="noStrike">
                <a:solidFill>
                  <a:schemeClr val="dk1"/>
                </a:solidFill>
                <a:latin typeface="Trebuchet MS"/>
              </a:rPr>
              <a:t>Click to move the slide</a:t>
            </a: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2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2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3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68B3DD9-C158-42BC-8980-B43522E269C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Ekip üyelerini tek tek tanıtın; sorumluluk matrisi ekte paylaşılacak.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BA86C9-610C-4EE2-B9E3-B8E95998CE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ECD3B-933C-4174-AA81-3B93A8461A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E99A10-527B-4642-9CE8-BCD81217E8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8DD8246-0696-47A9-8766-1180832B0B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587C134-3912-487B-ADEF-D8FC13D752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AA7D601-3318-4B6B-A0DC-6B13E3519B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4591080"/>
            <a:ext cx="513108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6226200" y="4591080"/>
            <a:ext cx="513108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1A0D04D-AC94-4C81-AEF1-A169A5E257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96BBC08-02A8-4CDD-840D-F4E78715AE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A34CB0-3E24-43B7-B3DC-511C969D5A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alga" hidden="1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Dalga" hidden="1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Arka Plan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87e8b"/>
              </a:gs>
              <a:gs pos="100000">
                <a:srgbClr val="0b3954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Dalga"/>
          <p:cNvSpPr/>
          <p:nvPr/>
        </p:nvSpPr>
        <p:spPr>
          <a:xfrm>
            <a:off x="0" y="4800600"/>
            <a:ext cx="12191760" cy="20570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057040"/>
              <a:gd name="textAreaBottom" fmla="*/ 2057400 h 205704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1">
              <a:alpha val="18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Dalga"/>
          <p:cNvSpPr/>
          <p:nvPr/>
        </p:nvSpPr>
        <p:spPr>
          <a:xfrm>
            <a:off x="0" y="5349240"/>
            <a:ext cx="12191760" cy="15084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508400"/>
              <a:gd name="textAreaBottom" fmla="*/ 1508760 h 15084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1"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Trebuchet MS"/>
              </a:rPr>
              <a:t>Asıl başlık stilini düzenlemek için tıklayın</a:t>
            </a:r>
            <a:endParaRPr b="0" lang="tr-TR" sz="6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24B257-7BDA-4160-ADB6-C3D5A015F313}" type="slidenum">
              <a: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Click to edit the outline text format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Second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800" spc="-1" strike="noStrike">
                <a:solidFill>
                  <a:schemeClr val="dk1"/>
                </a:solidFill>
                <a:latin typeface="Trebuchet MS"/>
              </a:rPr>
              <a:t>Third Outline Level</a:t>
            </a: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800" spc="-1" strike="noStrike">
                <a:solidFill>
                  <a:schemeClr val="dk1"/>
                </a:solidFill>
                <a:latin typeface="Trebuchet MS"/>
              </a:rPr>
              <a:t>Fourth Outline Level</a:t>
            </a: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Fifth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Sixth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Seventh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DBDB13-1F48-4331-99DA-C77780FD7A3E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lga" hidden="1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Dalga" hidden="1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Arka Plan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87e8b"/>
              </a:gs>
              <a:gs pos="100000">
                <a:srgbClr val="0b3954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Dalga"/>
          <p:cNvSpPr/>
          <p:nvPr/>
        </p:nvSpPr>
        <p:spPr>
          <a:xfrm>
            <a:off x="0" y="4800600"/>
            <a:ext cx="12191760" cy="20570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057040"/>
              <a:gd name="textAreaBottom" fmla="*/ 2057400 h 205704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1">
              <a:alpha val="18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Dalga"/>
          <p:cNvSpPr/>
          <p:nvPr/>
        </p:nvSpPr>
        <p:spPr>
          <a:xfrm>
            <a:off x="0" y="5349240"/>
            <a:ext cx="12191760" cy="15084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508400"/>
              <a:gd name="textAreaBottom" fmla="*/ 1508760 h 15084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1"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Trebuchet MS"/>
              </a:rPr>
              <a:t>Asıl başlık stilini düzenlemek için tıklayın</a:t>
            </a:r>
            <a:endParaRPr b="0" lang="tr-TR" sz="6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7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8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9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88F3DF-2308-46D5-A35E-83B2D18A040D}" type="slidenum">
              <a:rPr b="0" lang="tr-TR" sz="1200" spc="-1" strike="noStrike">
                <a:solidFill>
                  <a:schemeClr val="lt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  <p:sldLayoutId id="2147483655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21036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0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1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2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9557E9-A0F5-4EA5-8C6A-6178474B0C48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808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21036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21036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13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14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15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3396D2-2292-4C9A-9220-FC79545CDF76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dt" idx="16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17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18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A3E815-FC15-446A-8131-E323B4511B6A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Click to edit the outline text format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Second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800" spc="-1" strike="noStrike">
                <a:solidFill>
                  <a:schemeClr val="dk1"/>
                </a:solidFill>
                <a:latin typeface="Trebuchet MS"/>
              </a:rPr>
              <a:t>Third Outline Level</a:t>
            </a: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800" spc="-1" strike="noStrike">
                <a:solidFill>
                  <a:schemeClr val="dk1"/>
                </a:solidFill>
                <a:latin typeface="Trebuchet MS"/>
              </a:rPr>
              <a:t>Fourth Outline Level</a:t>
            </a:r>
            <a:endParaRPr b="0" lang="tr-TR" sz="1800" spc="-1" strike="noStrike">
              <a:solidFill>
                <a:schemeClr val="dk1"/>
              </a:solidFill>
              <a:latin typeface="Trebuchet M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Fifth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Sixth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Trebuchet MS"/>
              </a:rPr>
              <a:t>Seventh Outline Level</a:t>
            </a:r>
            <a:endParaRPr b="0" lang="tr-TR" sz="20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dt" idx="19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20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1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EBBDBC-2565-4AF2-AA04-1D0548A00E66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32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32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1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22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23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24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26858C-A69B-4A79-9411-BE6E6D3540AA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Dalga"/>
          <p:cNvSpPr/>
          <p:nvPr/>
        </p:nvSpPr>
        <p:spPr>
          <a:xfrm>
            <a:off x="0" y="5897880"/>
            <a:ext cx="12191760" cy="959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959760"/>
              <a:gd name="textAreaBottom" fmla="*/ 960120 h 959760"/>
            </a:gdLst>
            <a:ahLst/>
            <a:rect l="textAreaLeft" t="textAreaTop" r="textAreaRight" b="textAreaBottom"/>
            <a:pathLst>
              <a:path w="100000" h="10000">
                <a:moveTo>
                  <a:pt x="0" y="2000"/>
                </a:moveTo>
                <a:cubicBezTo>
                  <a:pt x="20000" y="7000"/>
                  <a:pt x="42000" y="1000"/>
                  <a:pt x="64000" y="4000"/>
                </a:cubicBezTo>
                <a:cubicBezTo>
                  <a:pt x="80000" y="6200"/>
                  <a:pt x="90000" y="5000"/>
                  <a:pt x="100000" y="3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Dalga"/>
          <p:cNvSpPr/>
          <p:nvPr/>
        </p:nvSpPr>
        <p:spPr>
          <a:xfrm>
            <a:off x="0" y="6103800"/>
            <a:ext cx="12191760" cy="754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54200"/>
              <a:gd name="textAreaBottom" fmla="*/ 754560 h 754200"/>
            </a:gdLst>
            <a:ahLst/>
            <a:rect l="textAreaLeft" t="textAreaTop" r="textAreaRight" b="textAreaBottom"/>
            <a:pathLst>
              <a:path w="100000" h="10000">
                <a:moveTo>
                  <a:pt x="0" y="4000"/>
                </a:moveTo>
                <a:cubicBezTo>
                  <a:pt x="25000" y="0"/>
                  <a:pt x="50000" y="9000"/>
                  <a:pt x="75000" y="4500"/>
                </a:cubicBezTo>
                <a:cubicBezTo>
                  <a:pt x="88000" y="2200"/>
                  <a:pt x="95000" y="3000"/>
                  <a:pt x="100000" y="2000"/>
                </a:cubicBezTo>
                <a:lnTo>
                  <a:pt x="100000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2"/>
                </a:solidFill>
                <a:latin typeface="Trebuchet MS"/>
              </a:rPr>
              <a:t>Asıl başlık stilini düzenlemek için tıklayın</a:t>
            </a:r>
            <a:endParaRPr b="0" lang="tr-TR" sz="32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tr-TR" sz="3200" spc="-1" strike="noStrike">
                <a:solidFill>
                  <a:schemeClr val="dk1"/>
                </a:solidFill>
                <a:latin typeface="Trebuchet MS"/>
              </a:rPr>
              <a:t>Resim eklemek için simgeye tıklayın</a:t>
            </a:r>
            <a:endParaRPr b="0" lang="tr-TR" sz="32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Trebuchet MS"/>
              </a:rPr>
              <a:t>Asıl metin stillerini düzenlemek için tıklayın</a:t>
            </a:r>
            <a:endParaRPr b="0" lang="tr-TR" sz="1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25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26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27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7344AD-66B7-4593-AEF8-74D70BE43398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Trebuchet MS"/>
              </a:rPr>
              <a:t>Müşteri Portalı Yenileme Projesi</a:t>
            </a:r>
            <a:endParaRPr b="0" lang="tr-TR" sz="6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9143640" cy="165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5000"/>
                  </a:schemeClr>
                </a:solidFill>
                <a:latin typeface="Trebuchet MS"/>
              </a:rPr>
              <a:t>Proje başlangıç sunumu · Proje Yönetim Ofisi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Gündem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Projenin amacı ve kapsamı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Hedefler ve başarı ölçütleri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Zaman çizelgesi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Ekip ve roller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Riskler ve önlemler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Sorular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Hedefler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İş hedefleri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Müşteri memnuniyetini %20 artırmak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Çağrı merkezi yükünü azaltmak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Self servis işlemleri yaygınlaştırmak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1036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Teknik hedefler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Mobil uyumlu arayüz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Sayfa yükleme süresi &lt; 2 sn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Trebuchet MS"/>
              </a:rPr>
              <a:t>Erişilebilirlik (WCAG 2.1 AA)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Zaman Çizelgesi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00" name="Aşama 1"/>
          <p:cNvSpPr/>
          <p:nvPr/>
        </p:nvSpPr>
        <p:spPr>
          <a:xfrm>
            <a:off x="838080" y="2190600"/>
            <a:ext cx="2041920" cy="8568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r-TR" sz="1800" spc="-1" strike="noStrike">
                <a:solidFill>
                  <a:schemeClr val="lt1"/>
                </a:solidFill>
                <a:latin typeface="Trebuchet MS"/>
              </a:rPr>
              <a:t>Analiz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Aşama 2"/>
          <p:cNvSpPr/>
          <p:nvPr/>
        </p:nvSpPr>
        <p:spPr>
          <a:xfrm>
            <a:off x="2956680" y="2190600"/>
            <a:ext cx="2041920" cy="85680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r-TR" sz="1800" spc="-1" strike="noStrike">
                <a:solidFill>
                  <a:schemeClr val="lt1"/>
                </a:solidFill>
                <a:latin typeface="Trebuchet MS"/>
              </a:rPr>
              <a:t>Tasarım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Aşama 3"/>
          <p:cNvSpPr/>
          <p:nvPr/>
        </p:nvSpPr>
        <p:spPr>
          <a:xfrm>
            <a:off x="5074920" y="2190600"/>
            <a:ext cx="2041920" cy="8568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r-TR" sz="1800" spc="-1" strike="noStrike">
                <a:solidFill>
                  <a:schemeClr val="lt1"/>
                </a:solidFill>
                <a:latin typeface="Trebuchet MS"/>
              </a:rPr>
              <a:t>Geliştirme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Aşama 4"/>
          <p:cNvSpPr/>
          <p:nvPr/>
        </p:nvSpPr>
        <p:spPr>
          <a:xfrm>
            <a:off x="7193160" y="2190600"/>
            <a:ext cx="2041920" cy="856800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r-TR" sz="1800" spc="-1" strike="noStrike">
                <a:solidFill>
                  <a:schemeClr val="lt1"/>
                </a:solidFill>
                <a:latin typeface="Trebuchet MS"/>
              </a:rPr>
              <a:t>Test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Aşama 5"/>
          <p:cNvSpPr/>
          <p:nvPr/>
        </p:nvSpPr>
        <p:spPr>
          <a:xfrm>
            <a:off x="9311760" y="2190600"/>
            <a:ext cx="2041920" cy="856800"/>
          </a:xfrm>
          <a:prstGeom prst="chevron">
            <a:avLst>
              <a:gd name="adj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r-TR" sz="1800" spc="-1" strike="noStrike">
                <a:solidFill>
                  <a:schemeClr val="lt1"/>
                </a:solidFill>
                <a:latin typeface="Trebuchet MS"/>
              </a:rPr>
              <a:t>Yayın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" name="Tablo"/>
          <p:cNvGraphicFramePr/>
          <p:nvPr/>
        </p:nvGraphicFramePr>
        <p:xfrm>
          <a:off x="838080" y="3429000"/>
          <a:ext cx="10514520" cy="20948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8720"/>
              </a:tblGrid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Trebuchet MS"/>
                        </a:rPr>
                        <a:t>Aşama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Trebuchet MS"/>
                        </a:rPr>
                        <a:t>Başlangıç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Trebuchet MS"/>
                        </a:rPr>
                        <a:t>Bitiş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lt1"/>
                          </a:solidFill>
                          <a:latin typeface="Trebuchet MS"/>
                        </a:rPr>
                        <a:t>Sorumlu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Analiz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06.01.2027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31.01.2027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İş Analizi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Tasarım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01.02.2027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28.02.2027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UX Ekibi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Geliştirme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01.03.2027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30.05.2027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Yazılım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Test ve Yayın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01.06.2027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30.06.2027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dk1"/>
                          </a:solidFill>
                          <a:latin typeface="Trebuchet MS"/>
                        </a:rPr>
                        <a:t>Kalite Güvence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transition spd="med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Ekip ve Roller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Proje Sponsoru – Genel Müdür Yardımcısı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Proje Yöneticisi – PYO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Ürün Sahibi – Dijital Kanallar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Geliştirme Ekibi – 6 kişi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Kalite Güvence – 2 kişi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2"/>
                </a:solidFill>
                <a:latin typeface="Trebuchet MS"/>
              </a:rPr>
              <a:t>Riskler ve Önlemler</a:t>
            </a:r>
            <a:endParaRPr b="0" lang="tr-TR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Kapsam kayması → değişiklik kontrol kurulu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Entegrasyon gecikmeleri → erken prototip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b2a3a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Trebuchet MS"/>
              </a:rPr>
              <a:t>Kaynak eksikliği → dış kaynak planı</a:t>
            </a:r>
            <a:endParaRPr b="0" lang="tr-TR" sz="28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Trebuchet MS"/>
              </a:rPr>
              <a:t>Teşekkürler</a:t>
            </a:r>
            <a:endParaRPr b="0" lang="tr-TR" sz="6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5000"/>
                  </a:schemeClr>
                </a:solidFill>
                <a:latin typeface="Trebuchet MS"/>
              </a:rPr>
              <a:t>Sorularınız için: pyo@ornek.com.tr</a:t>
            </a:r>
            <a:endParaRPr b="0" lang="tr-TR" sz="24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Kıyı">
  <a:themeElements>
    <a:clrScheme name="Kıyı">
      <a:dk1>
        <a:srgbClr val="1b2a3a"/>
      </a:dk1>
      <a:lt1>
        <a:srgbClr val="ffffff"/>
      </a:lt1>
      <a:dk2>
        <a:srgbClr val="0b3954"/>
      </a:dk2>
      <a:lt2>
        <a:srgbClr val="e3f1f6"/>
      </a:lt2>
      <a:accent1>
        <a:srgbClr val="087e8b"/>
      </a:accent1>
      <a:accent2>
        <a:srgbClr val="3c91e6"/>
      </a:accent2>
      <a:accent3>
        <a:srgbClr val="ff5a5f"/>
      </a:accent3>
      <a:accent4>
        <a:srgbClr val="9fd356"/>
      </a:accent4>
      <a:accent5>
        <a:srgbClr val="fa824c"/>
      </a:accent5>
      <a:accent6>
        <a:srgbClr val="342e3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2026-10-12T00:29:21Z</dcterms:created>
  <dc:creator/>
  <dc:description/>
  <dc:language>en-US</dc:language>
  <cp:lastModifiedBy/>
  <dcterms:modified xsi:type="dcterms:W3CDTF">2026-10-12T00:29:21Z</dcterms:modified>
  <cp:revision>0</cp:revision>
  <dc:subject/>
  <dc:title>Proje Sunumu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Geniş ekran</vt:lpwstr>
  </property>
  <property fmtid="{D5CDD505-2E9C-101B-9397-08002B2CF9AE}" pid="4" name="Slides">
    <vt:r8>7</vt:r8>
  </property>
</Properties>
</file>